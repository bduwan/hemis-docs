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64008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TRƯỜNG ĐẠI HỌC CÔNG ĐOÀN  |  TUU DATAHUB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3200400" cy="310896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KIẾN TRÚC TỔNG THỂ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713232"/>
            <a:ext cx="10698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Tổng Thể: Gom Dữ Liệu Phân Tán Lên HEMIS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697480" cy="67665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093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Phần Mềm Quản Lý Đào Tạo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52928" y="160934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190195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CSDL SQL Server (Ngành, Sinh viên, Điểm)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2697480" cy="67665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6609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Phòng Tổ Chức Cán Bộ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52928" y="266090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Excel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29535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File Excel hồ sơ CBGV, hợp đồng lao động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2697480" cy="67665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1246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Phòng CSVC, QLKH &amp; Tài Chính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52928" y="371246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Excel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400507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File Excel đất đai, tài sản, đề tài NCKH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709160"/>
            <a:ext cx="2697480" cy="67665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7640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Hồ Sơ Giấy &amp; Sổ Gốc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52928" y="476402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Hồ sơ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" y="505663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Sổ cấp văn bằng tốt nghiệp, quyết định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4992" y="1883664"/>
            <a:ext cx="1417320" cy="804672"/>
          </a:xfrm>
          <a:prstGeom prst="line">
            <a:avLst/>
          </a:prstGeom>
          <a:noFill/>
          <a:ln w="3175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64992" y="2935224"/>
            <a:ext cx="1417320" cy="402336"/>
          </a:xfrm>
          <a:prstGeom prst="line">
            <a:avLst/>
          </a:prstGeom>
          <a:noFill/>
          <a:ln w="3175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64992" y="3986784"/>
            <a:ext cx="1417320" cy="0"/>
          </a:xfrm>
          <a:prstGeom prst="line">
            <a:avLst/>
          </a:prstGeom>
          <a:noFill/>
          <a:ln w="3175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3364992" y="4590288"/>
            <a:ext cx="1417320" cy="448056"/>
          </a:xfrm>
          <a:prstGeom prst="line">
            <a:avLst/>
          </a:prstGeom>
          <a:noFill/>
          <a:ln w="3175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46320" y="1965960"/>
            <a:ext cx="3017520" cy="3108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284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0912" y="2103120"/>
            <a:ext cx="2697480" cy="329184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210312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TUU DATA HUB (ĐỨNG Ở GIỮA - TẬP TRUNG)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10912" y="2542032"/>
            <a:ext cx="2697480" cy="53035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59689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1. Gom Dữ Liệu Tự Động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20640" y="279806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Kéo SQL Server &amp; nạp file Excel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10912" y="3163824"/>
            <a:ext cx="2697480" cy="53035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2186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2. Chuẩn Hóa Danh Mục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20640" y="34198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Khớp &gt;175 danh mục chuẩn Bộ GD&amp;ĐT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10912" y="3785616"/>
            <a:ext cx="2697480" cy="53035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84048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3. Quét &amp; Báo Lỗi Trực Quan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120640" y="40416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Chỉ rõ dòng thiếu CCCD, sai mã để sửa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10912" y="4407408"/>
            <a:ext cx="2697480" cy="53035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46227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4C7"/>
                </a:solidFill>
              </a:rPr>
              <a:t>4. Ký Số Điện Tử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20640" y="466344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Bao gói XML-DSig (USB Token / SmartCA)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09560" y="3337560"/>
            <a:ext cx="96012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909560" y="342900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REST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Adapter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915400" y="1965960"/>
            <a:ext cx="251460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52560" y="2103120"/>
            <a:ext cx="2240280" cy="329184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48" name="Text 46"/>
          <p:cNvSpPr/>
          <p:nvPr/>
        </p:nvSpPr>
        <p:spPr>
          <a:xfrm>
            <a:off x="9052560" y="210312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CỔNG HEMIS BỘ GD&amp;ĐT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052560" y="2542032"/>
            <a:ext cx="2240280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0" y="259689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SSO OAuth2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144000" y="2798064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Xác thực kết nối tài khoản trường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052560" y="3163824"/>
            <a:ext cx="2240280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0" y="3218688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Tiếp Nhận Ký Số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144000" y="341985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Kiểm tra tính pháp lý file XML đã ký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52560" y="3785616"/>
            <a:ext cx="2240280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0" y="38404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Dữ Liệu Nghiệp Vụ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144000" y="4041648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Tiếp nhận các gói dữ liệu JSON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052560" y="4407408"/>
            <a:ext cx="2240280" cy="5303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0" y="446227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CSDL Quốc Gia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9144000" y="466344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Phê duyệt chỉ tiêu tuyển sinh năm tới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31520" y="5715000"/>
            <a:ext cx="10698480" cy="5029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💡 MỤC ĐÍCH CỐT LÕI: Nhà trường KHÔNG PHẢI NHẬP LẠI dữ liệu cũ! Data Hub tự động gom, ánh xạ và đẩy Cổng Bộ.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64008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TRƯỜNG ĐẠI HỌC CÔNG ĐOÀN  |  TUU DATAHUB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3200400" cy="310896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LỘ TRÌNH PHÁT TRIỂN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713232"/>
            <a:ext cx="10698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Chiến Lược: 2 Giai Đoạn Triển Khai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10698480" cy="21488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284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719072"/>
            <a:ext cx="3017520" cy="329184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190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GIAI ĐOẠN 1 (1 THÁNG - CẤP BÁCH)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0" y="171907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Tích Hợp &amp; Đẩy Dữ Liệu Lên CSDL HEMIS Bộ GD&amp;ĐT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686800" y="1719072"/>
            <a:ext cx="2468880" cy="329184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7190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Bảo toàn chỉ tiêu tuyển sinh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2176272"/>
            <a:ext cx="3200400" cy="1325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2677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</a:rPr>
              <a:t>Phạm Vi Thực Hiện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" y="25603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Gom dữ liệu từ SQL Đào tạo và các file Excel phòng ban ➔ Chuẩn hóa mã ➔ Ký số điện tử ➔ Đẩy Cổng Bộ.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176272"/>
            <a:ext cx="3200400" cy="1325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2677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</a:rPr>
              <a:t>Cách Làm Việc &amp; Phối Hợp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7720" y="25603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Nhà trường không phải gõ lại; tận dụng tối đa dữ liệu sẵn có. Trưởng phòng kiểm tra và duyệt dữ liệu phòng mình.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2176272"/>
            <a:ext cx="3200400" cy="1325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2677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</a:rPr>
              <a:t>Kết Quả Đạt Được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25603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Hoàn thành đúng hạn Công văn 6240 của Bộ, bảo toàn 100% chỉ tiêu tuyển sinh và uy tín của Nhà trường.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886200"/>
            <a:ext cx="106984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4050792"/>
            <a:ext cx="3017520" cy="329184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0507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GIAI ĐOẠN 2 (MỞ RỘNG DÀI HẠN)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06240" y="405079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Hệ Thống Quản Trị Tác Nghiệp Hoàn Chỉnh (ERP Đại Học)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686800" y="4050792"/>
            <a:ext cx="2468880" cy="329184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0" y="40507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Quản trị số toàn diện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05840" y="4507992"/>
            <a:ext cx="3200400" cy="1325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599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</a:rPr>
              <a:t>Nền Móng Sẵn Có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3000" y="48920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Tái sử dụng 100% CSDL tập trung và logic nghiệp vụ đã được làm sạch và chuẩn hóa ở Giai đoạn 1.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4507992"/>
            <a:ext cx="3200400" cy="1325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4599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</a:rPr>
              <a:t>Quản Trị Đại Học Số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617720" y="48920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Xây dựng các cổng Web tác nghiệp chuyên sâu cho từng phòng ban (Nhân sự, CSVC, NCKH, Đào tạo...).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55280" y="4507992"/>
            <a:ext cx="3200400" cy="1325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2440" y="45994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</a:rPr>
              <a:t>Tự Động Đồng Bộ Quanh Năm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092440" y="48920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Dữ liệu vận hành hằng ngày tự động đồng bộ lên HEMIS quanh năm (Auto-Sync), không lãng phí chi phí đầu tư.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64008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TRƯỜNG ĐẠI HỌC CÔNG ĐOÀN  |  TUU DATAHUB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3200400" cy="310896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CHUẨN HÓA PHÂN HỆ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713232"/>
            <a:ext cx="10698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13 Phân Hệ Chuẩn Hóa Theo Bộ GD&amp;ĐT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411480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630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84C7"/>
                </a:solidFill>
              </a:rPr>
              <a:t>QUY CHUẨN CỦA BỘ: 13 Phân hệ  |  5 Phân hệ cốt lõi quyết định chỉ tiêu tuyển sinh  |  8 Phân hệ nghiệp vụ bổ trợ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52120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⭐ 5 PHÂN HỆ CỐT LÕI (QUYẾT ĐỊNH CHỈ TIÊU TUYỂN SINH)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Kết nối tự động từ CSDL Đào tạo &amp; Phòng TCCB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2788920"/>
            <a:ext cx="4663440" cy="585216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788920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4C7"/>
                </a:solidFill>
              </a:rPr>
              <a:t>01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45920" y="28620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Ngành Đào Tạo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645920" y="30998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Đơn vị: Phòng Quản lý Đào tạo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926080"/>
            <a:ext cx="100584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9260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SQL Auto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3447288"/>
            <a:ext cx="4663440" cy="585216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447288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4C7"/>
                </a:solidFill>
              </a:rPr>
              <a:t>02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645920" y="3520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Chương Trình Đào Tạo (CTĐT)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45920" y="37581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Đơn vị: P. QLĐT / P. QLCL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3584448"/>
            <a:ext cx="100584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58444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SQL Auto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5840" y="4105656"/>
            <a:ext cx="4663440" cy="585216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105656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4C7"/>
                </a:solidFill>
              </a:rPr>
              <a:t>03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645920" y="41788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Đội Ngũ Cán Bộ, Giảng Viên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45920" y="44165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Đơn vị: Phòng Tổ chức Cán bộ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4242816"/>
            <a:ext cx="100584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24281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Excel/Hồ sơ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05840" y="4764024"/>
            <a:ext cx="4663440" cy="585216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3000" y="4764024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4C7"/>
                </a:solidFill>
              </a:rPr>
              <a:t>04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645920" y="483717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Người Học (Sinh Viên, Học Viên)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45920" y="5074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Đơn vị: P. QLĐT / P. CTSV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4901184"/>
            <a:ext cx="100584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49011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SQL Auto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05840" y="5422392"/>
            <a:ext cx="4663440" cy="585216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3000" y="542239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4C7"/>
                </a:solidFill>
              </a:rPr>
              <a:t>05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1645920" y="549554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Tuyển Sinh (Chỉ Tiêu &amp; Trúng Tuyển)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645920" y="57332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Đơn vị: Phòng Quản lý Đào tạo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0" y="5559552"/>
            <a:ext cx="100584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0" y="555955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SQL Auto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📑 8 PHÂN HỆ NGHIỆP VỤ BỔ TRỢ (FILE EXCEL PHÒNG BAN)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92240" y="24688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Các phòng ban điền file mẫu ➔ Hệ thống quét lỗi &amp; nạp tự động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92240" y="2761488"/>
            <a:ext cx="4663440" cy="3931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2761488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06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949440" y="276148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Cơ Sở Giáo Dục &amp; Kiểm Định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418320" y="276148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P. QLCL / Hành chính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92240" y="3191256"/>
            <a:ext cx="4663440" cy="3931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3191256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07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949440" y="3191256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Hội Đồng Trường &amp; Ban Giám Hiệu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418320" y="319125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Phòng Tổ chức Cán bộ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92240" y="3621024"/>
            <a:ext cx="4663440" cy="3931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3621024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08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949440" y="3621024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Cơ Sở Vật Chất, Đất Đai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9418320" y="362102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Phòng Hành chính &amp; Y tế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92240" y="4050792"/>
            <a:ext cx="4663440" cy="3931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4050792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09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6949440" y="405079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Khoa Học Công Nghệ, Đề Tài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9418320" y="4050792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Phòng QLKH &amp; TTTL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92240" y="4480560"/>
            <a:ext cx="4663440" cy="3931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0" y="4480560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10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949440" y="4480560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Tài Chính, Tài Sản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9418320" y="448056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Phòng Tài chính - Kế toán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492240" y="4910328"/>
            <a:ext cx="4663440" cy="3931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83680" y="4910328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11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6949440" y="491032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Hợp Tác Quốc Tế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9418320" y="491032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Viện ĐT,BD &amp; HTQT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92240" y="5340096"/>
            <a:ext cx="4663440" cy="39319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83680" y="5340096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12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6949440" y="5340096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Hợp Tác Doanh Nghiệp &amp; Việc Làm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9418320" y="534009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P. GDCT &amp; CTSV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492240" y="5769864"/>
            <a:ext cx="4663440" cy="39319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0" y="5769864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13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6949440" y="5769864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Văn Bằng Tốt Nghiệp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9418320" y="576986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P. QLĐT (Xuất Excel chuẩn Bộ)*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640080" cy="31089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TRƯỜNG ĐẠI HỌC CÔNG ĐOÀN  |  TUU DATAHUB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3200400" cy="310896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KẾ HOẠCH &amp; KHẢ THI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713232"/>
            <a:ext cx="10698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Thực Hiện 30 Ngày &amp; Đánh Giá Khả Thi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2120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4C7"/>
                </a:solidFill>
              </a:rPr>
              <a:t>⏱️ LỘ TRÌNH 4 TUẦN (GIAI ĐOẠN 1)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05840" y="2240280"/>
            <a:ext cx="1005840" cy="713232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4028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Tuần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2295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Hạ Tầng &amp; Nhóm Đào Tạo Cốt Lõi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148840" y="2560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Kết nối Cổng Bộ test, nạp SQL đào tạo, tiếp nhận file Excel các phòng.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3108960"/>
            <a:ext cx="1005840" cy="713232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Tuần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Chuẩn Hóa Cán Bộ GV &amp; Cơ Sở Vật Chất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148840" y="3429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Quét sạch lỗi CCCD 12 số, phân công giảng dạy, trả file sửa lỗi nhanh.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05840" y="3977640"/>
            <a:ext cx="1005840" cy="713232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97764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Tuần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48840" y="40325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Các Phân Hệ Chuyên Môn &amp; Duyệt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148840" y="4297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NCKH, Tài chính, HTQT, HTDN, Văn bằng. Trưởng phòng duyệt trên web.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4846320"/>
            <a:ext cx="1005840" cy="713232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84632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Tuần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48840" y="49011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Ký Số Điện Tử &amp; Nộp Cổng HEMIS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148840" y="5166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Đóng gói XML-DSig, gửi API Cổng Bộ. Hoàn thành nghĩa vụ &amp; chốt chỉ tiêu.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</a:rPr>
              <a:t>🛡️ ĐÁNH GIÁ MỨC ĐỘ KHẢ THI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92240" y="22402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1. Đã Có Bản Demo Thử Nghiệm (PoC)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24963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Đã có khung giải pháp và bản demo PoC chạy thử nghiệm chứng minh quy trình vận hành được (sẽ show trực tiếp sau slide này). Lưu ý: Đây là bản demo thử nghiệm, chưa phải phần mềm triển khai hoàn chỉnh thật tại trường.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92240" y="3108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2. Không Bắt Trường Gõ Lại Từ Đầu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33649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Kéo tự động từ CSDL Đào tạo hiện có; các phòng ban khác chỉ cần nộp file Excel sẵn có theo mẫu chuẩn của Bộ.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92240" y="39776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3. Kế Hoạch Phòng Vệ An Toàn Tuyệt Đối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42336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Nếu phòng ngoài lề bị trễ, chốt chắc chắn 5 mục cốt lõi trước để bảo toàn 100% chỉ tiêu tuyển sinh cho Nhà trường.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92240" y="4892040"/>
            <a:ext cx="466344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9651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</a:rPr>
              <a:t>🤝 ĐIỀU KIỆN PHỐI HỢP TỪ PHÍA NHÀ TRƯỜNG: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29400" y="51937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8350F"/>
                </a:solidFill>
              </a:rPr>
              <a:t>• Cử 01 đầu mối (POC) mỗi phòng ban ngay tại cuộc họp hôm nay.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8350F"/>
                </a:solidFill>
              </a:rPr>
              <a:t>• Bàn giao CSDL Đào tạo &amp; các file Excel trong 5-7 ngày đầu.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8350F"/>
                </a:solidFill>
              </a:rPr>
              <a:t>• Trưởng phòng ban kiểm tra và duyệt dữ liệu cuốn chiếu trên web.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Trường Đại học Công đoàn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Mô Hình Tích Hợp Dữ Liệu HEMIS</dc:title>
  <dc:subject>PptxGenJS Presentation</dc:subject>
  <dc:creator>TUU DataHub Team</dc:creator>
  <cp:lastModifiedBy>TUU DataHub Team</cp:lastModifiedBy>
  <cp:revision>1</cp:revision>
  <dcterms:created xsi:type="dcterms:W3CDTF">2026-10-12T09:08:20Z</dcterms:created>
  <dcterms:modified xsi:type="dcterms:W3CDTF">2026-10-12T09:08:20Z</dcterms:modified>
</cp:coreProperties>
</file>